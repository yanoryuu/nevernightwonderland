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107b55d2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f107b55d2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107b55d2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Relationship Id="rId9" Type="http://schemas.openxmlformats.org/officeDocument/2006/relationships/image" Target="../media/image34.png"/><Relationship Id="rId10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28.png"/><Relationship Id="rId6" Type="http://schemas.openxmlformats.org/officeDocument/2006/relationships/image" Target="../media/image8.png"/><Relationship Id="rId7" Type="http://schemas.openxmlformats.org/officeDocument/2006/relationships/image" Target="../media/image26.png"/><Relationship Id="rId8" Type="http://schemas.openxmlformats.org/officeDocument/2006/relationships/image" Target="../media/image36.png"/><Relationship Id="rId9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37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38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75" y="1314300"/>
            <a:ext cx="7690451" cy="433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3E6E8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CONCEPT ／ 基本コンセプト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4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D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/>
          <p:nvPr/>
        </p:nvSpPr>
        <p:spPr>
          <a:xfrm>
            <a:off x="548640" y="10789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使い分けが生む、戦闘と探索のリズム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48640" y="182880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ハサミを武器に、近接攻撃と特殊攻撃の2ボタンで戦う2Dアクション。攻撃はゲーム進行で解禁され、拠点で入れ替えて自分の戦い方を組み立てる。マップ各地のハサミ強化で新しいアクションが解禁され、戦闘と探索の両方が段階的に広がっていく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315200" y="1783080"/>
            <a:ext cx="42976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571232" y="2075688"/>
            <a:ext cx="731520" cy="731520"/>
          </a:xfrm>
          <a:prstGeom prst="ellipse">
            <a:avLst/>
          </a:prstGeom>
          <a:solidFill>
            <a:srgbClr val="3E6E8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6797" y="225125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8503920" y="202082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攻撃カスタマイズ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503920" y="2441448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解禁した攻撃を拠点で入れ替えて戦う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0" y="3291840"/>
            <a:ext cx="42976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571232" y="3584448"/>
            <a:ext cx="731520" cy="731520"/>
          </a:xfrm>
          <a:prstGeom prst="ellipse">
            <a:avLst/>
          </a:prstGeom>
          <a:solidFill>
            <a:srgbClr val="C041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6797" y="376001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8503920" y="352958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ハサミ強化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503920" y="3950208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色ハサミ習得でアクションと探索が拡張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315200" y="4800600"/>
            <a:ext cx="42976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571232" y="5093208"/>
            <a:ext cx="731520" cy="731520"/>
          </a:xfrm>
          <a:prstGeom prst="ellipse">
            <a:avLst/>
          </a:prstGeom>
          <a:solidFill>
            <a:srgbClr val="26262C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46797" y="52687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8503920" y="5038344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崩しと択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503920" y="5458968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崩す→ブレイク→刻む/裁断の判断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3E6E8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ATTACK SYSTEM ／ 攻撃システム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5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D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5"/>
          <p:cNvSpPr/>
          <p:nvPr/>
        </p:nvSpPr>
        <p:spPr>
          <a:xfrm>
            <a:off x="548640" y="10789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二つのボタン、二つの役割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1783080"/>
            <a:ext cx="5349240" cy="4526280"/>
          </a:xfrm>
          <a:prstGeom prst="roundRect">
            <a:avLst>
              <a:gd fmla="val 121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48640" y="1783080"/>
            <a:ext cx="5349240" cy="1188720"/>
          </a:xfrm>
          <a:prstGeom prst="roundRect">
            <a:avLst>
              <a:gd fmla="val 4615" name="adj"/>
            </a:avLst>
          </a:prstGeom>
          <a:solidFill>
            <a:srgbClr val="C04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48640" y="2377440"/>
            <a:ext cx="5349240" cy="594360"/>
          </a:xfrm>
          <a:prstGeom prst="rect">
            <a:avLst/>
          </a:prstGeom>
          <a:solidFill>
            <a:srgbClr val="C04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896112" y="205740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120" y="221540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1755648" y="199339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Schoolboo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近接攻撃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773936" y="243230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EF2"/>
                </a:solidFill>
                <a:latin typeface="Arial"/>
                <a:ea typeface="Arial"/>
                <a:cs typeface="Arial"/>
                <a:sym typeface="Arial"/>
              </a:rPr>
              <a:t>MELEE ／ 斬る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60120" y="3246120"/>
            <a:ext cx="475488" cy="475488"/>
          </a:xfrm>
          <a:prstGeom prst="ellipse">
            <a:avLst/>
          </a:prstGeom>
          <a:solidFill>
            <a:srgbClr val="F1D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992" y="33649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/>
          <p:nvPr/>
        </p:nvSpPr>
        <p:spPr>
          <a:xfrm>
            <a:off x="1600200" y="3209544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ハサミを直接振るう主力攻撃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60120" y="3922776"/>
            <a:ext cx="475488" cy="475488"/>
          </a:xfrm>
          <a:prstGeom prst="ellipse">
            <a:avLst/>
          </a:prstGeom>
          <a:solidFill>
            <a:srgbClr val="F1D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992" y="4041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1600200" y="3886200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コストなしでいつでも出せる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60120" y="4599432"/>
            <a:ext cx="475488" cy="475488"/>
          </a:xfrm>
          <a:prstGeom prst="ellipse">
            <a:avLst/>
          </a:prstGeom>
          <a:solidFill>
            <a:srgbClr val="F1D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8992" y="4718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1600200" y="4562856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回復ゲージの蓄積は全量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14400" y="5559552"/>
            <a:ext cx="4617720" cy="566928"/>
          </a:xfrm>
          <a:prstGeom prst="roundRect">
            <a:avLst>
              <a:gd fmla="val 8065" name="adj"/>
            </a:avLst>
          </a:prstGeom>
          <a:solidFill>
            <a:srgbClr val="F1D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1097280" y="5577840"/>
            <a:ext cx="4297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役割：HPを削る（例：スラッシュ）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263640" y="1783080"/>
            <a:ext cx="5349240" cy="4526280"/>
          </a:xfrm>
          <a:prstGeom prst="roundRect">
            <a:avLst>
              <a:gd fmla="val 121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263640" y="1783080"/>
            <a:ext cx="5349240" cy="1188720"/>
          </a:xfrm>
          <a:prstGeom prst="roundRect">
            <a:avLst>
              <a:gd fmla="val 4615" name="adj"/>
            </a:avLst>
          </a:prstGeom>
          <a:solidFill>
            <a:srgbClr val="3E6E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263640" y="2377440"/>
            <a:ext cx="5349240" cy="594360"/>
          </a:xfrm>
          <a:prstGeom prst="rect">
            <a:avLst/>
          </a:prstGeom>
          <a:solidFill>
            <a:srgbClr val="3E6E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611112" y="205740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9120" y="221540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7470648" y="199339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Schoolboo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特殊攻撃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488936" y="243230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8EEF2"/>
                </a:solidFill>
                <a:latin typeface="Arial"/>
                <a:ea typeface="Arial"/>
                <a:cs typeface="Arial"/>
                <a:sym typeface="Arial"/>
              </a:rPr>
              <a:t>SPECIAL ／ 放つ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75120" y="3246120"/>
            <a:ext cx="475488" cy="475488"/>
          </a:xfrm>
          <a:prstGeom prst="ellipse">
            <a:avLst/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93992" y="33649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7315200" y="3209544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遠距離やパリィなど特殊能力枠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675120" y="3922776"/>
            <a:ext cx="475488" cy="475488"/>
          </a:xfrm>
          <a:prstGeom prst="ellipse">
            <a:avLst/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93992" y="4041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7315200" y="3886200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クールダウンなどのコスト付き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675120" y="4599432"/>
            <a:ext cx="475488" cy="475488"/>
          </a:xfrm>
          <a:prstGeom prst="ellipse">
            <a:avLst/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93992" y="4718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7315200" y="4562856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回復ゲージの蓄積は半分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629400" y="5559552"/>
            <a:ext cx="4617720" cy="566928"/>
          </a:xfrm>
          <a:prstGeom prst="roundRect">
            <a:avLst>
              <a:gd fmla="val 8065" name="adj"/>
            </a:avLst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812280" y="5577840"/>
            <a:ext cx="4297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役割：防御値を崩す（例：針弾）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C041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9A9AA2"/>
                </a:solidFill>
                <a:latin typeface="Arial"/>
                <a:ea typeface="Arial"/>
                <a:cs typeface="Arial"/>
                <a:sym typeface="Arial"/>
              </a:rPr>
              <a:t>COMBAT SYSTEM ／ 戦闘の核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6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A3A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6"/>
          <p:cNvSpPr/>
          <p:nvPr/>
        </p:nvSpPr>
        <p:spPr>
          <a:xfrm>
            <a:off x="548640" y="107899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防御値とHPの二層構造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40" y="1874520"/>
            <a:ext cx="5394960" cy="1371600"/>
          </a:xfrm>
          <a:prstGeom prst="roundRect">
            <a:avLst>
              <a:gd fmla="val 4000" name="adj"/>
            </a:avLst>
          </a:prstGeom>
          <a:solidFill>
            <a:srgbClr val="26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22960" y="2148840"/>
            <a:ext cx="822960" cy="822960"/>
          </a:xfrm>
          <a:prstGeom prst="ellipse">
            <a:avLst/>
          </a:prstGeom>
          <a:solidFill>
            <a:srgbClr val="3E6E8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470" y="234635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1874520" y="21031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防御値（白ゲージ）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874520" y="251460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8C8C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8C8CE"/>
                </a:solidFill>
                <a:latin typeface="Arial"/>
                <a:ea typeface="Arial"/>
                <a:cs typeface="Arial"/>
                <a:sym typeface="Arial"/>
              </a:rPr>
              <a:t>防御値寄りの攻撃（針弾・重断ちなど）で大きく削る。削りきるとブレイク（スタン）。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217920" y="1874520"/>
            <a:ext cx="5394960" cy="1371600"/>
          </a:xfrm>
          <a:prstGeom prst="roundRect">
            <a:avLst>
              <a:gd fmla="val 4000" name="adj"/>
            </a:avLst>
          </a:prstGeom>
          <a:solidFill>
            <a:srgbClr val="26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492240" y="2148840"/>
            <a:ext cx="822960" cy="822960"/>
          </a:xfrm>
          <a:prstGeom prst="ellipse">
            <a:avLst/>
          </a:prstGeom>
          <a:solidFill>
            <a:srgbClr val="C041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9750" y="234635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7543800" y="21031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HP（赤）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543800" y="251460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8C8C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8C8CE"/>
                </a:solidFill>
                <a:latin typeface="Arial"/>
                <a:ea typeface="Arial"/>
                <a:cs typeface="Arial"/>
                <a:sym typeface="Arial"/>
              </a:rPr>
              <a:t>ブレイク中＝無防備な敵に、近接攻撃の手数で一気に削る。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戦闘ループ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8640" y="3977640"/>
            <a:ext cx="3246120" cy="1051560"/>
          </a:xfrm>
          <a:prstGeom prst="roundRect">
            <a:avLst>
              <a:gd fmla="val 5217" name="adj"/>
            </a:avLst>
          </a:prstGeom>
          <a:solidFill>
            <a:srgbClr val="26262C"/>
          </a:solidFill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731520" y="4123944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3E6E8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417320" y="4160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崩す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435608" y="459943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AFB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FAFB6"/>
                </a:solidFill>
                <a:latin typeface="Arial"/>
                <a:ea typeface="Arial"/>
                <a:cs typeface="Arial"/>
                <a:sym typeface="Arial"/>
              </a:rPr>
              <a:t>防御値削り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831336" y="420624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361688" y="3977640"/>
            <a:ext cx="3246120" cy="1051560"/>
          </a:xfrm>
          <a:prstGeom prst="roundRect">
            <a:avLst>
              <a:gd fmla="val 5217" name="adj"/>
            </a:avLst>
          </a:prstGeom>
          <a:solidFill>
            <a:srgbClr val="26262C"/>
          </a:solidFill>
          <a:ln cap="flat" cmpd="sng" w="19050">
            <a:solidFill>
              <a:srgbClr val="6B6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544568" y="4123944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6B6B7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230368" y="4160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ブレイク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248656" y="459943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AFB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FAFB6"/>
                </a:solidFill>
                <a:latin typeface="Arial"/>
                <a:ea typeface="Arial"/>
                <a:cs typeface="Arial"/>
                <a:sym typeface="Arial"/>
              </a:rPr>
              <a:t>スタン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644384" y="420624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174736" y="3977640"/>
            <a:ext cx="3246120" cy="1051560"/>
          </a:xfrm>
          <a:prstGeom prst="roundRect">
            <a:avLst>
              <a:gd fmla="val 5217" name="adj"/>
            </a:avLst>
          </a:prstGeom>
          <a:solidFill>
            <a:srgbClr val="26262C"/>
          </a:solidFill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8357616" y="4123944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C041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9043416" y="4160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刻む／裁断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9061704" y="459943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AFB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FAFB6"/>
                </a:solidFill>
                <a:latin typeface="Arial"/>
                <a:ea typeface="Arial"/>
                <a:cs typeface="Arial"/>
                <a:sym typeface="Arial"/>
              </a:rPr>
              <a:t>近接 or 択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9A9AA2"/>
                </a:solidFill>
                <a:latin typeface="Arial"/>
                <a:ea typeface="Arial"/>
                <a:cs typeface="Arial"/>
                <a:sym typeface="Arial"/>
              </a:rPr>
              <a:t>バランス：格下なら近接だけでも防御値を削りきれる。格上ほど特殊攻撃での崩しが重要になる。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3E6E8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COMBAT SYSTEM ／ フィニッシャーと特殊攻撃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7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D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7"/>
          <p:cNvSpPr/>
          <p:nvPr/>
        </p:nvSpPr>
        <p:spPr>
          <a:xfrm>
            <a:off x="548640" y="10789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崩しのごほうびと、コスト付きの特殊枠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" y="1783080"/>
            <a:ext cx="5349240" cy="4480560"/>
          </a:xfrm>
          <a:prstGeom prst="roundRect">
            <a:avLst>
              <a:gd fmla="val 1224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C041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218" y="22896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1828800" y="212140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フィニッシャー「裁断」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828800" y="25420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ブレイク中に専用入力で発動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868680" y="306324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合体ハサミで敵を挟み込む大ダメージ技。崩しのごほうびとして演出を強めに。ここにプレイヤーの選択を残す：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68680" y="4023360"/>
            <a:ext cx="4709160" cy="868680"/>
          </a:xfrm>
          <a:prstGeom prst="roundRect">
            <a:avLst>
              <a:gd fmla="val 5263" name="adj"/>
            </a:avLst>
          </a:prstGeom>
          <a:solidFill>
            <a:srgbClr val="F1D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051560" y="4096512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即フィニッシャー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手堅く大ダメージ。ブレイク時間を消費して終わる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68680" y="5010912"/>
            <a:ext cx="4709160" cy="960120"/>
          </a:xfrm>
          <a:prstGeom prst="roundRect">
            <a:avLst>
              <a:gd fmla="val 4762" name="adj"/>
            </a:avLst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051560" y="5102352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撃たずに近接で刻む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総ダメージは上だが、ミスると敵が復帰するリスク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263640" y="1783080"/>
            <a:ext cx="5349240" cy="4480560"/>
          </a:xfrm>
          <a:prstGeom prst="roundRect">
            <a:avLst>
              <a:gd fmla="val 1224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6583680" y="2103120"/>
            <a:ext cx="777240" cy="777240"/>
          </a:xfrm>
          <a:prstGeom prst="ellipse">
            <a:avLst/>
          </a:prstGeom>
          <a:solidFill>
            <a:srgbClr val="3E6E8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0218" y="22896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7543800" y="212140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特殊攻撃＝コスト付きの強行動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543800" y="25420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クールダウンは円形HUDで表示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583680" y="3063240"/>
            <a:ext cx="4709160" cy="1143000"/>
          </a:xfrm>
          <a:prstGeom prst="roundRect">
            <a:avLst>
              <a:gd fmla="val 4000" name="adj"/>
            </a:avLst>
          </a:prstGeom>
          <a:solidFill>
            <a:srgbClr val="F1D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766560" y="315468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針弾（初期装備）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前方へ針を飛ばす遠距離攻撃。防御値削り寄りで、ブレイクの起点になる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583680" y="4343400"/>
            <a:ext cx="4709160" cy="1143000"/>
          </a:xfrm>
          <a:prstGeom prst="roundRect">
            <a:avLst>
              <a:gd fmla="val 4000" name="adj"/>
            </a:avLst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766560" y="443484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解禁と入れ替え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新しい攻撃はゲーム進行で解禁。拠点で近接／特殊のセットを組み替える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3E6E8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MOVEMENT ／ 移動アクション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8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D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8"/>
          <p:cNvSpPr/>
          <p:nvPr/>
        </p:nvSpPr>
        <p:spPr>
          <a:xfrm>
            <a:off x="548640" y="10789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地上から空中まで、段階的に広がる機動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48640" y="1783080"/>
            <a:ext cx="5486400" cy="841248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749808" y="1975104"/>
            <a:ext cx="457200" cy="457200"/>
          </a:xfrm>
          <a:prstGeom prst="ellipse">
            <a:avLst/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" y="21031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1389888" y="1911096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歩き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389888" y="224028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左右に歩いて移動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263640" y="1783080"/>
            <a:ext cx="5486400" cy="841248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464808" y="1975104"/>
            <a:ext cx="457200" cy="457200"/>
          </a:xfrm>
          <a:prstGeom prst="ellipse">
            <a:avLst/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2824" y="21031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7104888" y="1911096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ジャンプ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104888" y="224028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上にジャンプ。慣性なし、入力方向へ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48640" y="2825496"/>
            <a:ext cx="5486400" cy="841248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749808" y="3017520"/>
            <a:ext cx="457200" cy="457200"/>
          </a:xfrm>
          <a:prstGeom prst="ellipse">
            <a:avLst/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824" y="31455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1389888" y="295351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壁張り付き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389888" y="328269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壁に張り付き、壁ジャンプで登る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263640" y="2825496"/>
            <a:ext cx="5486400" cy="841248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464808" y="3017520"/>
            <a:ext cx="457200" cy="457200"/>
          </a:xfrm>
          <a:prstGeom prst="ellipse">
            <a:avLst/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2824" y="31455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104888" y="295351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ダッシュ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104888" y="328269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前方に飛び出す。ジャンプ中も可能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48640" y="3867912"/>
            <a:ext cx="5486400" cy="841248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49808" y="4059936"/>
            <a:ext cx="457200" cy="457200"/>
          </a:xfrm>
          <a:prstGeom prst="ellipse">
            <a:avLst/>
          </a:prstGeom>
          <a:solidFill>
            <a:srgbClr val="F1D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7824" y="418795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1389888" y="399592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二段ジャンプ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389888" y="432511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ジャンプ後にもう一度ジャンプ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263640" y="3867912"/>
            <a:ext cx="5486400" cy="841248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464808" y="4059936"/>
            <a:ext cx="457200" cy="457200"/>
          </a:xfrm>
          <a:prstGeom prst="ellipse">
            <a:avLst/>
          </a:prstGeom>
          <a:solidFill>
            <a:srgbClr val="F1D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92824" y="418795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7104888" y="399592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滑空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104888" y="432511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落下中にジャンプボタンで滑空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48640" y="4910328"/>
            <a:ext cx="11201400" cy="841248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49808" y="5102352"/>
            <a:ext cx="457200" cy="457200"/>
          </a:xfrm>
          <a:prstGeom prst="ellipse">
            <a:avLst/>
          </a:prstGeom>
          <a:solidFill>
            <a:srgbClr val="F1D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7824" y="52303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1389888" y="5038344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ハサミ移動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389888" y="536752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ハサミを飛ばし、その場所へ移動。壁に刺さると張り付く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※ バッジはハサミ強化で解禁：黄＝壁張り付き、青＝ハサミ移動、赤＝二段ジャンプ・滑空。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C041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RIBBON &amp; UPGRADES ／ リボンとハサミ強化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9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D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9"/>
          <p:cNvSpPr/>
          <p:nvPr/>
        </p:nvSpPr>
        <p:spPr>
          <a:xfrm>
            <a:off x="548640" y="10789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鍛冶師に頼んで、ハサミを強化する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マップ各地のリボンが道や敵を強化している。特別なハサミでしか切れず、魔法の鍛冶師に依頼して強化すると切れるようになる。強化は戦闘アクションの拡張も兼ねる。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8640" y="2514600"/>
            <a:ext cx="3520440" cy="3611880"/>
          </a:xfrm>
          <a:prstGeom prst="roundRect">
            <a:avLst>
              <a:gd fmla="val 155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548640" y="2514600"/>
            <a:ext cx="3520440" cy="868680"/>
          </a:xfrm>
          <a:prstGeom prst="roundRect">
            <a:avLst>
              <a:gd fmla="val 6316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48640" y="2926080"/>
            <a:ext cx="352044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804672" y="269748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1956" y="2824764"/>
            <a:ext cx="275783" cy="27578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1417320" y="265176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黄色のハサミ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435608" y="30175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序盤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777240" y="353872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カブトムシの鍛冶師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77240" y="388620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壁に張り付き、壁ジャンプできるようになる。高所や壁面のルート開拓に。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77240" y="5303520"/>
            <a:ext cx="3063240" cy="658368"/>
          </a:xfrm>
          <a:prstGeom prst="roundRect">
            <a:avLst>
              <a:gd fmla="val 5556" name="adj"/>
            </a:avLst>
          </a:prstGeom>
          <a:solidFill>
            <a:srgbClr val="F4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896112" y="5349240"/>
            <a:ext cx="28620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探索：</a:t>
            </a: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壁ジャンプで高所・壁面ルートが広がる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270248" y="2514600"/>
            <a:ext cx="3520440" cy="3611880"/>
          </a:xfrm>
          <a:prstGeom prst="roundRect">
            <a:avLst>
              <a:gd fmla="val 155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270248" y="2514600"/>
            <a:ext cx="3520440" cy="868680"/>
          </a:xfrm>
          <a:prstGeom prst="roundRect">
            <a:avLst>
              <a:gd fmla="val 6316" name="adj"/>
            </a:avLst>
          </a:prstGeom>
          <a:solidFill>
            <a:srgbClr val="3E6E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270248" y="2926080"/>
            <a:ext cx="3520440" cy="457200"/>
          </a:xfrm>
          <a:prstGeom prst="rect">
            <a:avLst/>
          </a:prstGeom>
          <a:solidFill>
            <a:srgbClr val="3E6E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526280" y="269748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3564" y="2824764"/>
            <a:ext cx="275783" cy="27578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/>
          <p:nvPr/>
        </p:nvSpPr>
        <p:spPr>
          <a:xfrm>
            <a:off x="5138928" y="265176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青色のハサミ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157216" y="30175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序盤の最後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498848" y="353872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クモの鍛冶師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498848" y="388620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特殊な糸でハサミを飛ばし、その先へ移動。壁に当たると貼り付く。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498848" y="5303520"/>
            <a:ext cx="3063240" cy="658368"/>
          </a:xfrm>
          <a:prstGeom prst="roundRect">
            <a:avLst>
              <a:gd fmla="val 5556" name="adj"/>
            </a:avLst>
          </a:prstGeom>
          <a:solidFill>
            <a:srgbClr val="F4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617720" y="5349240"/>
            <a:ext cx="28620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戦闘：</a:t>
            </a: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高速接近・回避・壁からの奇襲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7991856" y="2514600"/>
            <a:ext cx="3520440" cy="3611880"/>
          </a:xfrm>
          <a:prstGeom prst="roundRect">
            <a:avLst>
              <a:gd fmla="val 155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7991856" y="2514600"/>
            <a:ext cx="3520440" cy="868680"/>
          </a:xfrm>
          <a:prstGeom prst="roundRect">
            <a:avLst>
              <a:gd fmla="val 6316" name="adj"/>
            </a:avLst>
          </a:prstGeom>
          <a:solidFill>
            <a:srgbClr val="C04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991856" y="2926080"/>
            <a:ext cx="3520440" cy="457200"/>
          </a:xfrm>
          <a:prstGeom prst="rect">
            <a:avLst/>
          </a:prstGeom>
          <a:solidFill>
            <a:srgbClr val="C04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8247888" y="269748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5172" y="2824764"/>
            <a:ext cx="275783" cy="27578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/>
          <p:nvPr/>
        </p:nvSpPr>
        <p:spPr>
          <a:xfrm>
            <a:off x="8860536" y="265176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赤色のハサミ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8878824" y="30175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中盤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220456" y="353872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トビムシの鍛冶師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220456" y="388620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1A1E"/>
                </a:solidFill>
              </a:rPr>
              <a:t>二段ジャンプと滑空が解禁。空中の機動力が一段変わる。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1A1A1E"/>
              </a:solidFill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8220456" y="5303520"/>
            <a:ext cx="3063240" cy="658368"/>
          </a:xfrm>
          <a:prstGeom prst="roundRect">
            <a:avLst>
              <a:gd fmla="val 5556" name="adj"/>
            </a:avLst>
          </a:prstGeom>
          <a:solidFill>
            <a:srgbClr val="F4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8339328" y="5349240"/>
            <a:ext cx="28620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戦闘：</a:t>
            </a: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空中コンボの起点・戦闘の質が一段変化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3E6E8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ITEMS ／ アイテムアクション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10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D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0"/>
          <p:cNvSpPr/>
          <p:nvPr/>
        </p:nvSpPr>
        <p:spPr>
          <a:xfrm>
            <a:off x="548640" y="10789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3スロットに携帯、コンボの部品にもなる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48640" y="1783080"/>
            <a:ext cx="3520440" cy="233172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822960" y="19659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まち針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822960" y="2487168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直進する針。壁に刺さると足場に。敵に当てるとダメージ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822960" y="36118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所持数 </a:t>
            </a:r>
            <a:r>
              <a:rPr b="1" i="0" lang="en-US" sz="180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270248" y="1783080"/>
            <a:ext cx="3520440" cy="233172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4544568" y="19659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ミシン針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544568" y="2487168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曲射で投げる針。まち針より威力が高い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544568" y="36118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所持数 </a:t>
            </a:r>
            <a:r>
              <a:rPr b="1" i="0" lang="en-US" sz="180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7991856" y="1783080"/>
            <a:ext cx="3520440" cy="233172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8266176" y="19659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布カッター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266176" y="2487168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前に突進。敵に当てるとノックバック。被弾でキャンセル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266176" y="36118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所持数 </a:t>
            </a:r>
            <a:r>
              <a:rPr b="1" i="0" lang="en-US" sz="180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48640" y="4389120"/>
            <a:ext cx="11064240" cy="1783080"/>
          </a:xfrm>
          <a:prstGeom prst="roundRect">
            <a:avLst>
              <a:gd fmla="val 3077" name="adj"/>
            </a:avLst>
          </a:prstGeom>
          <a:solidFill>
            <a:srgbClr val="1A1A1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868680" y="457200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C041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残り3種と使い方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914400" y="5029200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4E8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4E4E8"/>
                </a:solidFill>
                <a:latin typeface="Arial"/>
                <a:ea typeface="Arial"/>
                <a:cs typeface="Arial"/>
                <a:sym typeface="Arial"/>
              </a:rPr>
              <a:t>糸玉（8）＝敵を拘束／ボビン爆弾（5）＝範囲の防御値削り／針山（5）＝設置トラップ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E4E4E8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4E4E8"/>
                </a:solidFill>
                <a:latin typeface="Arial"/>
                <a:ea typeface="Arial"/>
                <a:cs typeface="Arial"/>
                <a:sym typeface="Arial"/>
              </a:rPr>
              <a:t>スロットは下・左・右の3つ。L1（KB：I）ホールド＋方向で使用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E4E4E8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E4E4E8"/>
                </a:solidFill>
                <a:latin typeface="Arial"/>
                <a:ea typeface="Arial"/>
                <a:cs typeface="Arial"/>
                <a:sym typeface="Arial"/>
              </a:rPr>
              <a:t>セットの変更はポーズメニュー、補充は拠点で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3E6E8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SAVE &amp; CRAFT ／ 拠点・素材システム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11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D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1"/>
          <p:cNvSpPr/>
          <p:nvPr/>
        </p:nvSpPr>
        <p:spPr>
          <a:xfrm>
            <a:off x="548640" y="10789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セーブポイントを拠点に、糸でアイテムを作る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548640" y="1783080"/>
            <a:ext cx="5349240" cy="4389120"/>
          </a:xfrm>
          <a:prstGeom prst="roundRect">
            <a:avLst>
              <a:gd fmla="val 125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3E6E8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2786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/>
          <p:nvPr/>
        </p:nvSpPr>
        <p:spPr>
          <a:xfrm>
            <a:off x="1828800" y="221284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セーブと拠点機能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914400" y="306324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セーブ：拠点画面からセーブ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リスポーン：最後に訪れた地点に復帰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攻撃入れ替え：近接／特殊のセットを変更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アイテム補充：糸を消費して所持数を戻す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回復：画面を開くと体力が全回復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263640" y="1783080"/>
            <a:ext cx="5349240" cy="4389120"/>
          </a:xfrm>
          <a:prstGeom prst="roundRect">
            <a:avLst>
              <a:gd fmla="val 125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6583680" y="2103120"/>
            <a:ext cx="731520" cy="731520"/>
          </a:xfrm>
          <a:prstGeom prst="ellipse">
            <a:avLst/>
          </a:prstGeom>
          <a:solidFill>
            <a:srgbClr val="C041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9245" y="22786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1"/>
          <p:cNvSpPr/>
          <p:nvPr/>
        </p:nvSpPr>
        <p:spPr>
          <a:xfrm>
            <a:off x="7543800" y="221284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素材とアイテム生成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629400" y="306324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糸：敵を倒すと入手できる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アイテム補充：糸を消費して消費分を作り直す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倒した敵は拠点で休むまで復活しない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素材の種類は今後拡張（現状は糸のみ）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C041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HEAL ／ 回復システム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12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D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2"/>
          <p:cNvSpPr/>
          <p:nvPr/>
        </p:nvSpPr>
        <p:spPr>
          <a:xfrm>
            <a:off x="548640" y="10789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攻撃で溜め、消費して回復する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敵を攻撃すると、HPとは別の回復ゲージが溜まっていく。ゲージは1本＝3メモリで、攻撃を当てるごとに少しずつ蓄積。回復ボタンでメモリを1つ消費してHPを回復する。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48640" y="2514600"/>
            <a:ext cx="3520440" cy="2697480"/>
          </a:xfrm>
          <a:prstGeom prst="roundRect">
            <a:avLst>
              <a:gd fmla="val 2034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822960" y="2788920"/>
            <a:ext cx="731520" cy="731520"/>
          </a:xfrm>
          <a:prstGeom prst="ellipse">
            <a:avLst/>
          </a:prstGeom>
          <a:solidFill>
            <a:srgbClr val="3E6E8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525" y="29644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/>
          <p:nvPr/>
        </p:nvSpPr>
        <p:spPr>
          <a:xfrm>
            <a:off x="3291840" y="27157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D7D3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D8D7D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822960" y="36576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攻撃でためる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822960" y="411480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敵に攻撃を当てるとゲージが蓄積。近接は全量、特殊攻撃は半分たまる。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005072" y="33832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270248" y="2514600"/>
            <a:ext cx="3520440" cy="2697480"/>
          </a:xfrm>
          <a:prstGeom prst="roundRect">
            <a:avLst>
              <a:gd fmla="val 2034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4544568" y="2788920"/>
            <a:ext cx="731520" cy="731520"/>
          </a:xfrm>
          <a:prstGeom prst="ellipse">
            <a:avLst/>
          </a:prstGeom>
          <a:solidFill>
            <a:srgbClr val="3E6E8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0133" y="29644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2"/>
          <p:cNvSpPr/>
          <p:nvPr/>
        </p:nvSpPr>
        <p:spPr>
          <a:xfrm>
            <a:off x="7013448" y="27157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D7D3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D8D7D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544568" y="36576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1ゲージ＝3メモリ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544568" y="411480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ゲージは3つのメモリで構成。攻撃ごとにメモリが少しずつ満たされていく。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7726680" y="33832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041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7991856" y="2514600"/>
            <a:ext cx="3520440" cy="2697480"/>
          </a:xfrm>
          <a:prstGeom prst="roundRect">
            <a:avLst>
              <a:gd fmla="val 2034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8266176" y="2788920"/>
            <a:ext cx="731520" cy="731520"/>
          </a:xfrm>
          <a:prstGeom prst="ellipse">
            <a:avLst/>
          </a:prstGeom>
          <a:solidFill>
            <a:srgbClr val="C041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1741" y="29644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2"/>
          <p:cNvSpPr/>
          <p:nvPr/>
        </p:nvSpPr>
        <p:spPr>
          <a:xfrm>
            <a:off x="10735056" y="27157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D7D3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D8D7D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8266176" y="36576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ボタンで回復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8266176" y="411480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回復ボタン（○／S）でメモリを1つ消費してHPを回復。安全なタイミングを選ぶ判断が生まれる。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fmla="val 6250" name="adj"/>
            </a:avLst>
          </a:prstGeom>
          <a:solidFill>
            <a:srgbClr val="DCE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868680" y="5458968"/>
            <a:ext cx="104241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拠点では別途、体力が全回復する。</a:t>
            </a:r>
            <a:r>
              <a:rPr b="0" i="0" lang="en-US" sz="1250" u="none" cap="none" strike="noStrike">
                <a:solidFill>
                  <a:srgbClr val="3E6E8E"/>
                </a:solidFill>
                <a:latin typeface="Arial"/>
                <a:ea typeface="Arial"/>
                <a:cs typeface="Arial"/>
                <a:sym typeface="Arial"/>
              </a:rPr>
              <a:t> 道中はゲージ回復、拠点は全回復、という二段構え。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E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C041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9A9AA2"/>
                </a:solidFill>
                <a:latin typeface="Arial"/>
                <a:ea typeface="Arial"/>
                <a:cs typeface="Arial"/>
                <a:sym typeface="Arial"/>
              </a:rPr>
              <a:t>ENEMIES ／ 敵設計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3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3A3A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3"/>
          <p:cNvSpPr/>
          <p:nvPr/>
        </p:nvSpPr>
        <p:spPr>
          <a:xfrm>
            <a:off x="548640" y="107899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敵が、攻撃の使い分けを強制する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548640" y="1828800"/>
            <a:ext cx="3520440" cy="1325880"/>
          </a:xfrm>
          <a:prstGeom prst="roundRect">
            <a:avLst>
              <a:gd fmla="val 4138" name="adj"/>
            </a:avLst>
          </a:prstGeom>
          <a:solidFill>
            <a:srgbClr val="26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3E6E8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859" y="22110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3"/>
          <p:cNvSpPr/>
          <p:nvPr/>
        </p:nvSpPr>
        <p:spPr>
          <a:xfrm>
            <a:off x="1508760" y="199339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防御値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508760" y="2359152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8B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8B8BE"/>
                </a:solidFill>
                <a:latin typeface="Arial"/>
                <a:ea typeface="Arial"/>
                <a:cs typeface="Arial"/>
                <a:sym typeface="Arial"/>
              </a:rPr>
              <a:t>すべて削るとHPに攻撃が入りやすい。防御値寄りの攻撃で削りやすい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270248" y="1828800"/>
            <a:ext cx="3520440" cy="1325880"/>
          </a:xfrm>
          <a:prstGeom prst="roundRect">
            <a:avLst>
              <a:gd fmla="val 4138" name="adj"/>
            </a:avLst>
          </a:prstGeom>
          <a:solidFill>
            <a:srgbClr val="26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4498848" y="2057400"/>
            <a:ext cx="640080" cy="640080"/>
          </a:xfrm>
          <a:prstGeom prst="ellipse">
            <a:avLst/>
          </a:prstGeom>
          <a:solidFill>
            <a:srgbClr val="C041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2467" y="22110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3"/>
          <p:cNvSpPr/>
          <p:nvPr/>
        </p:nvSpPr>
        <p:spPr>
          <a:xfrm>
            <a:off x="5230368" y="199339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230368" y="2359152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8B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8B8BE"/>
                </a:solidFill>
                <a:latin typeface="Arial"/>
                <a:ea typeface="Arial"/>
                <a:cs typeface="Arial"/>
                <a:sym typeface="Arial"/>
              </a:rPr>
              <a:t>削りきると敵を倒せる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7991856" y="1828800"/>
            <a:ext cx="3520440" cy="1325880"/>
          </a:xfrm>
          <a:prstGeom prst="roundRect">
            <a:avLst>
              <a:gd fmla="val 4138" name="adj"/>
            </a:avLst>
          </a:prstGeom>
          <a:solidFill>
            <a:srgbClr val="26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8220456" y="2057400"/>
            <a:ext cx="640080" cy="640080"/>
          </a:xfrm>
          <a:prstGeom prst="ellipse">
            <a:avLst/>
          </a:prstGeom>
          <a:solidFill>
            <a:srgbClr val="8A8A92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4075" y="22110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/>
          <p:nvPr/>
        </p:nvSpPr>
        <p:spPr>
          <a:xfrm>
            <a:off x="8951976" y="199339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ブレイク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8951976" y="2359152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B8B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8B8BE"/>
                </a:solidFill>
                <a:latin typeface="Arial"/>
                <a:ea typeface="Arial"/>
                <a:cs typeface="Arial"/>
                <a:sym typeface="Arial"/>
              </a:rPr>
              <a:t>防御を崩すと一定時間スタン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548640" y="3383280"/>
            <a:ext cx="5349240" cy="2011680"/>
          </a:xfrm>
          <a:prstGeom prst="roundRect">
            <a:avLst>
              <a:gd fmla="val 2727" name="adj"/>
            </a:avLst>
          </a:prstGeom>
          <a:solidFill>
            <a:srgbClr val="26262C"/>
          </a:solidFill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868680" y="3611880"/>
            <a:ext cx="777240" cy="777240"/>
          </a:xfrm>
          <a:prstGeom prst="ellipse">
            <a:avLst/>
          </a:prstGeom>
          <a:solidFill>
            <a:srgbClr val="3E6E8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5218" y="379841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3"/>
          <p:cNvSpPr/>
          <p:nvPr/>
        </p:nvSpPr>
        <p:spPr>
          <a:xfrm>
            <a:off x="1828800" y="363931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重装甲型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828800" y="4096512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8C8C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8C8CE"/>
                </a:solidFill>
                <a:latin typeface="Arial"/>
                <a:ea typeface="Arial"/>
                <a:cs typeface="Arial"/>
                <a:sym typeface="Arial"/>
              </a:rPr>
              <a:t>防御値が高く、通常の近接では崩しにくい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868680" y="4754880"/>
            <a:ext cx="4709160" cy="502920"/>
          </a:xfrm>
          <a:prstGeom prst="roundRect">
            <a:avLst>
              <a:gd fmla="val 9091" name="adj"/>
            </a:avLst>
          </a:prstGeom>
          <a:solidFill>
            <a:srgbClr val="3E6E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868680" y="4754880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Schoolboo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特殊攻撃で崩す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6263640" y="3383280"/>
            <a:ext cx="5349240" cy="2011680"/>
          </a:xfrm>
          <a:prstGeom prst="roundRect">
            <a:avLst>
              <a:gd fmla="val 2727" name="adj"/>
            </a:avLst>
          </a:prstGeom>
          <a:solidFill>
            <a:srgbClr val="26262C"/>
          </a:solidFill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6583680" y="3611880"/>
            <a:ext cx="777240" cy="777240"/>
          </a:xfrm>
          <a:prstGeom prst="ellipse">
            <a:avLst/>
          </a:prstGeom>
          <a:solidFill>
            <a:srgbClr val="C041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0218" y="379841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3"/>
          <p:cNvSpPr/>
          <p:nvPr/>
        </p:nvSpPr>
        <p:spPr>
          <a:xfrm>
            <a:off x="7543800" y="363931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俊敏型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7543800" y="4096512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8C8C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8C8CE"/>
                </a:solidFill>
                <a:latin typeface="Arial"/>
                <a:ea typeface="Arial"/>
                <a:cs typeface="Arial"/>
                <a:sym typeface="Arial"/>
              </a:rPr>
              <a:t>すばしっこく、大振りの攻撃が当たらない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583680" y="4754880"/>
            <a:ext cx="4709160" cy="502920"/>
          </a:xfrm>
          <a:prstGeom prst="roundRect">
            <a:avLst>
              <a:gd fmla="val 9091" name="adj"/>
            </a:avLst>
          </a:prstGeom>
          <a:solidFill>
            <a:srgbClr val="C04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6583680" y="4754880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Schoolboo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素早い近接で対処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9A9AA2"/>
                </a:solidFill>
                <a:latin typeface="Arial"/>
                <a:ea typeface="Arial"/>
                <a:cs typeface="Arial"/>
                <a:sym typeface="Arial"/>
              </a:rPr>
              <a:t>この二体を同時に出すと、戦闘中に動的な攻撃の使い分けが発生する。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E8E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3E6E8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MOTION ／ モーション開発指針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14"/>
          <p:cNvCxnSpPr/>
          <p:nvPr/>
        </p:nvCxnSpPr>
        <p:spPr>
          <a:xfrm>
            <a:off x="548640" y="96926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8D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14"/>
          <p:cNvSpPr/>
          <p:nvPr/>
        </p:nvSpPr>
        <p:spPr>
          <a:xfrm>
            <a:off x="548640" y="10789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わかりやすさと、当たり判定の一致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48640" y="1783080"/>
            <a:ext cx="3520440" cy="4114800"/>
          </a:xfrm>
          <a:prstGeom prst="roundRect">
            <a:avLst>
              <a:gd fmla="val 155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3E6E8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21762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4"/>
          <p:cNvSpPr/>
          <p:nvPr/>
        </p:nvSpPr>
        <p:spPr>
          <a:xfrm>
            <a:off x="777240" y="28346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50"/>
              <a:buFont typeface="Century Schoolbook"/>
              <a:buNone/>
            </a:pPr>
            <a:r>
              <a:rPr b="1" i="0" lang="en-US" sz="155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攻撃前モーション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822960" y="3520440"/>
            <a:ext cx="30175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何の攻撃が来るかわかるように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違う攻撃で同じモーションをさせない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速くわかりやすい動作でもよい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序盤はゆっくりわかりやすく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4270248" y="1783080"/>
            <a:ext cx="3520440" cy="4114800"/>
          </a:xfrm>
          <a:prstGeom prst="roundRect">
            <a:avLst>
              <a:gd fmla="val 155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4544568" y="2011680"/>
            <a:ext cx="685800" cy="685800"/>
          </a:xfrm>
          <a:prstGeom prst="ellipse">
            <a:avLst/>
          </a:prstGeom>
          <a:solidFill>
            <a:srgbClr val="3E6E8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21762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4"/>
          <p:cNvSpPr/>
          <p:nvPr/>
        </p:nvSpPr>
        <p:spPr>
          <a:xfrm>
            <a:off x="4498848" y="28346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50"/>
              <a:buFont typeface="Century Schoolbook"/>
              <a:buNone/>
            </a:pPr>
            <a:r>
              <a:rPr b="1" i="0" lang="en-US" sz="155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当たり判定のズレ防止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4544568" y="3520440"/>
            <a:ext cx="30175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画像内でキャラを上下移動させない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見た目と実際の判定に齟齬が出る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例：32×32なら画像サイズぴったりで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7991856" y="1783080"/>
            <a:ext cx="3520440" cy="4114800"/>
          </a:xfrm>
          <a:prstGeom prst="roundRect">
            <a:avLst>
              <a:gd fmla="val 155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8266176" y="2011680"/>
            <a:ext cx="685800" cy="685800"/>
          </a:xfrm>
          <a:prstGeom prst="ellipse">
            <a:avLst/>
          </a:prstGeom>
          <a:solidFill>
            <a:srgbClr val="C041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3" name="Google Shape;37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768" y="21762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4"/>
          <p:cNvSpPr/>
          <p:nvPr/>
        </p:nvSpPr>
        <p:spPr>
          <a:xfrm>
            <a:off x="8220456" y="28346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550"/>
              <a:buFont typeface="Century Schoolbook"/>
              <a:buNone/>
            </a:pPr>
            <a:r>
              <a:rPr b="1" i="0" lang="en-US" sz="155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攻撃モーションの見やすさ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8266176" y="3520440"/>
            <a:ext cx="30175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キャラと武器の横幅は1：1が目安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近づけすぎると判定が分かりにくい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A1A1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攻撃エフェクトは別で作成する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"/>
          <p:cNvSpPr/>
          <p:nvPr/>
        </p:nvSpPr>
        <p:spPr>
          <a:xfrm>
            <a:off x="548640" y="384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13B"/>
              </a:buClr>
              <a:buSzPts val="2600"/>
              <a:buFont typeface="Century Schoolbook"/>
              <a:buNone/>
            </a:pPr>
            <a:r>
              <a:rPr b="1" i="0" lang="en-US" sz="2600" u="none" cap="none" strike="noStrike">
                <a:solidFill>
                  <a:srgbClr val="C0413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1234440" y="42062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CONTROLS ／ 操作方法（コントローラー）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5"/>
          <p:cNvCxnSpPr/>
          <p:nvPr/>
        </p:nvCxnSpPr>
        <p:spPr>
          <a:xfrm>
            <a:off x="548640" y="969264"/>
            <a:ext cx="11064300" cy="0"/>
          </a:xfrm>
          <a:prstGeom prst="straightConnector1">
            <a:avLst/>
          </a:prstGeom>
          <a:noFill/>
          <a:ln cap="flat" cmpd="sng" w="12700">
            <a:solidFill>
              <a:srgbClr val="D8D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5"/>
          <p:cNvSpPr/>
          <p:nvPr/>
        </p:nvSpPr>
        <p:spPr>
          <a:xfrm>
            <a:off x="548640" y="10789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2700"/>
              <a:buFont typeface="Century Schoolbook"/>
              <a:buNone/>
            </a:pPr>
            <a:r>
              <a:rPr b="1" i="0" lang="en-US" sz="2700" u="none" cap="none" strike="noStrike">
                <a:solidFill>
                  <a:srgbClr val="1A1A1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コントローラー操作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240" y="2148840"/>
            <a:ext cx="6035039" cy="417810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5"/>
          <p:cNvSpPr/>
          <p:nvPr/>
        </p:nvSpPr>
        <p:spPr>
          <a:xfrm>
            <a:off x="4525225" y="2571926"/>
            <a:ext cx="82200" cy="82200"/>
          </a:xfrm>
          <a:prstGeom prst="ellipse">
            <a:avLst/>
          </a:prstGeom>
          <a:solidFill>
            <a:srgbClr val="3E6E8E"/>
          </a:solidFill>
          <a:ln cap="flat" cmpd="sng" w="1270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7" name="Google Shape;387;p15"/>
          <p:cNvCxnSpPr/>
          <p:nvPr/>
        </p:nvCxnSpPr>
        <p:spPr>
          <a:xfrm>
            <a:off x="3200400" y="2613074"/>
            <a:ext cx="1365900" cy="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15"/>
          <p:cNvCxnSpPr/>
          <p:nvPr/>
        </p:nvCxnSpPr>
        <p:spPr>
          <a:xfrm>
            <a:off x="3200400" y="2011680"/>
            <a:ext cx="0" cy="60150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15"/>
          <p:cNvCxnSpPr/>
          <p:nvPr/>
        </p:nvCxnSpPr>
        <p:spPr>
          <a:xfrm>
            <a:off x="2880360" y="2011680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15"/>
          <p:cNvSpPr/>
          <p:nvPr/>
        </p:nvSpPr>
        <p:spPr>
          <a:xfrm>
            <a:off x="2834640" y="1828800"/>
            <a:ext cx="45600" cy="365700"/>
          </a:xfrm>
          <a:prstGeom prst="rect">
            <a:avLst/>
          </a:prstGeom>
          <a:solidFill>
            <a:srgbClr val="3E6E8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576072" y="1737360"/>
            <a:ext cx="219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ハサミ移動</a:t>
            </a:r>
            <a:b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LT / L2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525225" y="2966525"/>
            <a:ext cx="82200" cy="82200"/>
          </a:xfrm>
          <a:prstGeom prst="ellipse">
            <a:avLst/>
          </a:prstGeom>
          <a:solidFill>
            <a:srgbClr val="6B6B72"/>
          </a:solidFill>
          <a:ln cap="flat" cmpd="sng" w="12700">
            <a:solidFill>
              <a:srgbClr val="6B6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3" name="Google Shape;393;p15"/>
          <p:cNvCxnSpPr/>
          <p:nvPr/>
        </p:nvCxnSpPr>
        <p:spPr>
          <a:xfrm>
            <a:off x="3200400" y="3007673"/>
            <a:ext cx="1365900" cy="0"/>
          </a:xfrm>
          <a:prstGeom prst="straightConnector1">
            <a:avLst/>
          </a:prstGeom>
          <a:noFill/>
          <a:ln cap="flat" cmpd="sng" w="19050">
            <a:solidFill>
              <a:srgbClr val="6B6B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15"/>
          <p:cNvCxnSpPr/>
          <p:nvPr/>
        </p:nvCxnSpPr>
        <p:spPr>
          <a:xfrm>
            <a:off x="3200400" y="2834640"/>
            <a:ext cx="0" cy="173100"/>
          </a:xfrm>
          <a:prstGeom prst="straightConnector1">
            <a:avLst/>
          </a:prstGeom>
          <a:noFill/>
          <a:ln cap="flat" cmpd="sng" w="19050">
            <a:solidFill>
              <a:srgbClr val="6B6B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15"/>
          <p:cNvCxnSpPr/>
          <p:nvPr/>
        </p:nvCxnSpPr>
        <p:spPr>
          <a:xfrm>
            <a:off x="2880360" y="2834640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6B6B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15"/>
          <p:cNvSpPr/>
          <p:nvPr/>
        </p:nvSpPr>
        <p:spPr>
          <a:xfrm>
            <a:off x="2834640" y="2651760"/>
            <a:ext cx="45600" cy="365700"/>
          </a:xfrm>
          <a:prstGeom prst="rect">
            <a:avLst/>
          </a:prstGeom>
          <a:solidFill>
            <a:srgbClr val="6B6B7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576072" y="2560320"/>
            <a:ext cx="219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アイテム</a:t>
            </a:r>
            <a:b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LB / L1 ＋十字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4525225" y="4080686"/>
            <a:ext cx="82200" cy="82200"/>
          </a:xfrm>
          <a:prstGeom prst="ellipse">
            <a:avLst/>
          </a:prstGeom>
          <a:solidFill>
            <a:srgbClr val="3E6E8E"/>
          </a:solidFill>
          <a:ln cap="flat" cmpd="sng" w="1270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9" name="Google Shape;399;p15"/>
          <p:cNvCxnSpPr/>
          <p:nvPr/>
        </p:nvCxnSpPr>
        <p:spPr>
          <a:xfrm>
            <a:off x="3200400" y="4121834"/>
            <a:ext cx="1365900" cy="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15"/>
          <p:cNvCxnSpPr/>
          <p:nvPr/>
        </p:nvCxnSpPr>
        <p:spPr>
          <a:xfrm>
            <a:off x="3200400" y="3749040"/>
            <a:ext cx="0" cy="37290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15"/>
          <p:cNvCxnSpPr/>
          <p:nvPr/>
        </p:nvCxnSpPr>
        <p:spPr>
          <a:xfrm>
            <a:off x="2880360" y="3749040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15"/>
          <p:cNvSpPr/>
          <p:nvPr/>
        </p:nvSpPr>
        <p:spPr>
          <a:xfrm>
            <a:off x="2834640" y="3566160"/>
            <a:ext cx="45600" cy="365700"/>
          </a:xfrm>
          <a:prstGeom prst="rect">
            <a:avLst/>
          </a:prstGeom>
          <a:solidFill>
            <a:srgbClr val="3E6E8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576072" y="3474720"/>
            <a:ext cx="219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移動</a:t>
            </a:r>
            <a:b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左スティック / 十字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5511722" y="4057474"/>
            <a:ext cx="82200" cy="82200"/>
          </a:xfrm>
          <a:prstGeom prst="ellipse">
            <a:avLst/>
          </a:prstGeom>
          <a:solidFill>
            <a:srgbClr val="6B6B72"/>
          </a:solidFill>
          <a:ln cap="flat" cmpd="sng" w="12700">
            <a:solidFill>
              <a:srgbClr val="6B6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5" name="Google Shape;405;p15"/>
          <p:cNvCxnSpPr/>
          <p:nvPr/>
        </p:nvCxnSpPr>
        <p:spPr>
          <a:xfrm>
            <a:off x="3200400" y="4098622"/>
            <a:ext cx="2352600" cy="0"/>
          </a:xfrm>
          <a:prstGeom prst="straightConnector1">
            <a:avLst/>
          </a:prstGeom>
          <a:noFill/>
          <a:ln cap="flat" cmpd="sng" w="19050">
            <a:solidFill>
              <a:srgbClr val="6B6B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15"/>
          <p:cNvCxnSpPr/>
          <p:nvPr/>
        </p:nvCxnSpPr>
        <p:spPr>
          <a:xfrm>
            <a:off x="3200400" y="4098622"/>
            <a:ext cx="0" cy="564900"/>
          </a:xfrm>
          <a:prstGeom prst="straightConnector1">
            <a:avLst/>
          </a:prstGeom>
          <a:noFill/>
          <a:ln cap="flat" cmpd="sng" w="19050">
            <a:solidFill>
              <a:srgbClr val="6B6B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15"/>
          <p:cNvCxnSpPr/>
          <p:nvPr/>
        </p:nvCxnSpPr>
        <p:spPr>
          <a:xfrm>
            <a:off x="2880360" y="4663440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6B6B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15"/>
          <p:cNvSpPr/>
          <p:nvPr/>
        </p:nvSpPr>
        <p:spPr>
          <a:xfrm>
            <a:off x="2834640" y="4480560"/>
            <a:ext cx="45600" cy="365700"/>
          </a:xfrm>
          <a:prstGeom prst="rect">
            <a:avLst/>
          </a:prstGeom>
          <a:solidFill>
            <a:srgbClr val="6B6B7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576072" y="4389120"/>
            <a:ext cx="219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ポーズ</a:t>
            </a:r>
            <a:b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Menu / Options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7553999" y="2571926"/>
            <a:ext cx="82200" cy="82200"/>
          </a:xfrm>
          <a:prstGeom prst="ellipse">
            <a:avLst/>
          </a:prstGeom>
          <a:solidFill>
            <a:srgbClr val="3E6E8E"/>
          </a:solidFill>
          <a:ln cap="flat" cmpd="sng" w="1270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1" name="Google Shape;411;p15"/>
          <p:cNvCxnSpPr/>
          <p:nvPr/>
        </p:nvCxnSpPr>
        <p:spPr>
          <a:xfrm>
            <a:off x="7595147" y="2613074"/>
            <a:ext cx="1411800" cy="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15"/>
          <p:cNvCxnSpPr/>
          <p:nvPr/>
        </p:nvCxnSpPr>
        <p:spPr>
          <a:xfrm>
            <a:off x="9006840" y="2011680"/>
            <a:ext cx="0" cy="60150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5"/>
          <p:cNvCxnSpPr/>
          <p:nvPr/>
        </p:nvCxnSpPr>
        <p:spPr>
          <a:xfrm>
            <a:off x="9006840" y="2011680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5"/>
          <p:cNvSpPr/>
          <p:nvPr/>
        </p:nvSpPr>
        <p:spPr>
          <a:xfrm>
            <a:off x="9326880" y="1828800"/>
            <a:ext cx="45600" cy="365700"/>
          </a:xfrm>
          <a:prstGeom prst="rect">
            <a:avLst/>
          </a:prstGeom>
          <a:solidFill>
            <a:srgbClr val="3E6E8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9400032" y="1737360"/>
            <a:ext cx="219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ダッシュ</a:t>
            </a:r>
            <a:b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RT / R2（ジャンプ中も可）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7553999" y="2966525"/>
            <a:ext cx="82200" cy="82200"/>
          </a:xfrm>
          <a:prstGeom prst="ellipse">
            <a:avLst/>
          </a:prstGeom>
          <a:solidFill>
            <a:srgbClr val="C0413B"/>
          </a:solidFill>
          <a:ln cap="flat" cmpd="sng" w="1270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7" name="Google Shape;417;p15"/>
          <p:cNvCxnSpPr/>
          <p:nvPr/>
        </p:nvCxnSpPr>
        <p:spPr>
          <a:xfrm>
            <a:off x="7595147" y="3007673"/>
            <a:ext cx="1411800" cy="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15"/>
          <p:cNvCxnSpPr/>
          <p:nvPr/>
        </p:nvCxnSpPr>
        <p:spPr>
          <a:xfrm>
            <a:off x="9006840" y="2834640"/>
            <a:ext cx="0" cy="17310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15"/>
          <p:cNvCxnSpPr/>
          <p:nvPr/>
        </p:nvCxnSpPr>
        <p:spPr>
          <a:xfrm>
            <a:off x="9006840" y="2834640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15"/>
          <p:cNvSpPr/>
          <p:nvPr/>
        </p:nvSpPr>
        <p:spPr>
          <a:xfrm>
            <a:off x="9326880" y="2651760"/>
            <a:ext cx="45600" cy="365700"/>
          </a:xfrm>
          <a:prstGeom prst="rect">
            <a:avLst/>
          </a:prstGeom>
          <a:solidFill>
            <a:srgbClr val="C0413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9400032" y="2560320"/>
            <a:ext cx="219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A1A1E"/>
                </a:solidFill>
              </a:rPr>
              <a:t>裁断（ブレイク中）</a:t>
            </a:r>
            <a:b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RB / R1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8111080" y="3964627"/>
            <a:ext cx="82200" cy="82200"/>
          </a:xfrm>
          <a:prstGeom prst="ellipse">
            <a:avLst/>
          </a:prstGeom>
          <a:solidFill>
            <a:srgbClr val="C0413B"/>
          </a:solidFill>
          <a:ln cap="flat" cmpd="sng" w="1270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3" name="Google Shape;423;p15"/>
          <p:cNvCxnSpPr/>
          <p:nvPr/>
        </p:nvCxnSpPr>
        <p:spPr>
          <a:xfrm>
            <a:off x="8152228" y="4005775"/>
            <a:ext cx="854700" cy="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15"/>
          <p:cNvCxnSpPr/>
          <p:nvPr/>
        </p:nvCxnSpPr>
        <p:spPr>
          <a:xfrm>
            <a:off x="9006840" y="3657600"/>
            <a:ext cx="0" cy="34830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15"/>
          <p:cNvCxnSpPr/>
          <p:nvPr/>
        </p:nvCxnSpPr>
        <p:spPr>
          <a:xfrm>
            <a:off x="9006840" y="3657600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15"/>
          <p:cNvSpPr/>
          <p:nvPr/>
        </p:nvSpPr>
        <p:spPr>
          <a:xfrm>
            <a:off x="9326880" y="3474720"/>
            <a:ext cx="45600" cy="365700"/>
          </a:xfrm>
          <a:prstGeom prst="rect">
            <a:avLst/>
          </a:prstGeom>
          <a:solidFill>
            <a:srgbClr val="C0413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9400032" y="3383280"/>
            <a:ext cx="219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特殊攻撃</a:t>
            </a:r>
            <a:b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Y / 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8505678" y="4359226"/>
            <a:ext cx="82200" cy="82200"/>
          </a:xfrm>
          <a:prstGeom prst="ellipse">
            <a:avLst/>
          </a:prstGeom>
          <a:solidFill>
            <a:srgbClr val="C0413B"/>
          </a:solidFill>
          <a:ln cap="flat" cmpd="sng" w="1270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9" name="Google Shape;429;p15"/>
          <p:cNvCxnSpPr/>
          <p:nvPr/>
        </p:nvCxnSpPr>
        <p:spPr>
          <a:xfrm>
            <a:off x="8546826" y="4400374"/>
            <a:ext cx="459900" cy="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15"/>
          <p:cNvCxnSpPr/>
          <p:nvPr/>
        </p:nvCxnSpPr>
        <p:spPr>
          <a:xfrm>
            <a:off x="9006840" y="4400374"/>
            <a:ext cx="0" cy="8010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5"/>
          <p:cNvCxnSpPr/>
          <p:nvPr/>
        </p:nvCxnSpPr>
        <p:spPr>
          <a:xfrm>
            <a:off x="9006840" y="4480560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p15"/>
          <p:cNvSpPr/>
          <p:nvPr/>
        </p:nvSpPr>
        <p:spPr>
          <a:xfrm>
            <a:off x="9326880" y="4297680"/>
            <a:ext cx="45600" cy="365700"/>
          </a:xfrm>
          <a:prstGeom prst="rect">
            <a:avLst/>
          </a:prstGeom>
          <a:solidFill>
            <a:srgbClr val="C0413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9400032" y="4206240"/>
            <a:ext cx="219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回復</a:t>
            </a:r>
            <a:b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B / 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7716481" y="4359226"/>
            <a:ext cx="82200" cy="82200"/>
          </a:xfrm>
          <a:prstGeom prst="ellipse">
            <a:avLst/>
          </a:prstGeom>
          <a:solidFill>
            <a:srgbClr val="C0413B"/>
          </a:solidFill>
          <a:ln cap="flat" cmpd="sng" w="1270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5" name="Google Shape;435;p15"/>
          <p:cNvCxnSpPr/>
          <p:nvPr/>
        </p:nvCxnSpPr>
        <p:spPr>
          <a:xfrm>
            <a:off x="7757629" y="4400374"/>
            <a:ext cx="1249200" cy="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15"/>
          <p:cNvCxnSpPr/>
          <p:nvPr/>
        </p:nvCxnSpPr>
        <p:spPr>
          <a:xfrm>
            <a:off x="9006840" y="4400374"/>
            <a:ext cx="0" cy="90300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15"/>
          <p:cNvCxnSpPr/>
          <p:nvPr/>
        </p:nvCxnSpPr>
        <p:spPr>
          <a:xfrm>
            <a:off x="9006840" y="5303520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C041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15"/>
          <p:cNvSpPr/>
          <p:nvPr/>
        </p:nvSpPr>
        <p:spPr>
          <a:xfrm>
            <a:off x="9326880" y="5120640"/>
            <a:ext cx="45600" cy="365700"/>
          </a:xfrm>
          <a:prstGeom prst="rect">
            <a:avLst/>
          </a:prstGeom>
          <a:solidFill>
            <a:srgbClr val="C0413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9400032" y="5029200"/>
            <a:ext cx="219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近接攻撃</a:t>
            </a:r>
            <a:b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X / 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8111080" y="4753825"/>
            <a:ext cx="82200" cy="82200"/>
          </a:xfrm>
          <a:prstGeom prst="ellipse">
            <a:avLst/>
          </a:prstGeom>
          <a:solidFill>
            <a:srgbClr val="3E6E8E"/>
          </a:solidFill>
          <a:ln cap="flat" cmpd="sng" w="1270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1" name="Google Shape;441;p15"/>
          <p:cNvCxnSpPr/>
          <p:nvPr/>
        </p:nvCxnSpPr>
        <p:spPr>
          <a:xfrm>
            <a:off x="8152228" y="4794973"/>
            <a:ext cx="854700" cy="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15"/>
          <p:cNvCxnSpPr/>
          <p:nvPr/>
        </p:nvCxnSpPr>
        <p:spPr>
          <a:xfrm>
            <a:off x="9006840" y="4794973"/>
            <a:ext cx="0" cy="114870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15"/>
          <p:cNvCxnSpPr/>
          <p:nvPr/>
        </p:nvCxnSpPr>
        <p:spPr>
          <a:xfrm>
            <a:off x="9006840" y="5943600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3E6E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15"/>
          <p:cNvSpPr/>
          <p:nvPr/>
        </p:nvSpPr>
        <p:spPr>
          <a:xfrm>
            <a:off x="9326880" y="5760720"/>
            <a:ext cx="45600" cy="365700"/>
          </a:xfrm>
          <a:prstGeom prst="rect">
            <a:avLst/>
          </a:prstGeom>
          <a:solidFill>
            <a:srgbClr val="3E6E8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9400032" y="5669280"/>
            <a:ext cx="2194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  <a:t>ジャンプ</a:t>
            </a:r>
            <a:br>
              <a:rPr b="1" i="0" lang="en-US" sz="1300" u="none" cap="none" strike="noStrike">
                <a:solidFill>
                  <a:srgbClr val="1A1A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A / 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548640" y="635508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2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6B72"/>
                </a:solidFill>
                <a:latin typeface="Arial"/>
                <a:ea typeface="Arial"/>
                <a:cs typeface="Arial"/>
                <a:sym typeface="Arial"/>
              </a:rPr>
              <a:t>※ Xbox表記（PS表記併記）。しらべる＝上入力。アイテムはL1ホールド＋十字で3スロットを使い分ける。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